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5" r:id="rId4"/>
    <p:sldId id="264" r:id="rId5"/>
    <p:sldId id="262" r:id="rId6"/>
    <p:sldId id="261" r:id="rId7"/>
    <p:sldId id="266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95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96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B7DF-6564-4711-9340-217550A4B96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E464-D7D5-4B9D-AB3E-38F37DB3E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449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B7DF-6564-4711-9340-217550A4B96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E464-D7D5-4B9D-AB3E-38F37DB3E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57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B7DF-6564-4711-9340-217550A4B96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E464-D7D5-4B9D-AB3E-38F37DB3E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31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B7DF-6564-4711-9340-217550A4B96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E464-D7D5-4B9D-AB3E-38F37DB3E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60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B7DF-6564-4711-9340-217550A4B96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E464-D7D5-4B9D-AB3E-38F37DB3E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18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B7DF-6564-4711-9340-217550A4B96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E464-D7D5-4B9D-AB3E-38F37DB3E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679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B7DF-6564-4711-9340-217550A4B96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E464-D7D5-4B9D-AB3E-38F37DB3E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36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B7DF-6564-4711-9340-217550A4B96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E464-D7D5-4B9D-AB3E-38F37DB3E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381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B7DF-6564-4711-9340-217550A4B96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E464-D7D5-4B9D-AB3E-38F37DB3E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48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B7DF-6564-4711-9340-217550A4B96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E464-D7D5-4B9D-AB3E-38F37DB3E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359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B7DF-6564-4711-9340-217550A4B967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6E464-D7D5-4B9D-AB3E-38F37DB3E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612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wizmes.co.kr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 Box 44">
            <a:extLst>
              <a:ext uri="{FF2B5EF4-FFF2-40B4-BE49-F238E27FC236}">
                <a16:creationId xmlns:a16="http://schemas.microsoft.com/office/drawing/2014/main" id="{F1C42D14-A67C-C505-6E37-B401CEE9FA6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7232" y="6629400"/>
            <a:ext cx="8286768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i="1" dirty="0">
                <a:solidFill>
                  <a:schemeClr val="bg2">
                    <a:lumMod val="50000"/>
                  </a:schemeClr>
                </a:solidFill>
              </a:rPr>
              <a:t>클라우드 </a:t>
            </a:r>
            <a:r>
              <a:rPr lang="en-US" altLang="ko-KR" sz="900" b="1" i="1" dirty="0">
                <a:solidFill>
                  <a:schemeClr val="bg2">
                    <a:lumMod val="50000"/>
                  </a:schemeClr>
                </a:solidFill>
              </a:rPr>
              <a:t>SaaS</a:t>
            </a:r>
            <a:r>
              <a:rPr lang="ko-KR" altLang="en-US" sz="900" b="1" i="1" dirty="0">
                <a:solidFill>
                  <a:schemeClr val="bg2">
                    <a:lumMod val="50000"/>
                  </a:schemeClr>
                </a:solidFill>
              </a:rPr>
              <a:t>형 제조업 통합정보시스템   </a:t>
            </a:r>
            <a:r>
              <a:rPr lang="en-US" altLang="ko-KR" sz="900" b="1" i="1" dirty="0">
                <a:solidFill>
                  <a:schemeClr val="bg2">
                    <a:lumMod val="50000"/>
                  </a:schemeClr>
                </a:solidFill>
              </a:rPr>
              <a:t>Homepage : </a:t>
            </a:r>
            <a:r>
              <a:rPr lang="en-US" altLang="ko-KR" sz="900" b="1" i="1" dirty="0">
                <a:hlinkClick r:id="rId13"/>
              </a:rPr>
              <a:t>www.wizmes.co.kr</a:t>
            </a:r>
            <a:r>
              <a:rPr lang="en-US" altLang="ko-KR" sz="900" b="1" i="1" baseline="0" dirty="0"/>
              <a:t>    </a:t>
            </a:r>
            <a:r>
              <a:rPr lang="en-US" altLang="ko-KR" sz="900" b="1" i="1" dirty="0"/>
              <a:t>H.P : 010-3571-9633</a:t>
            </a:r>
            <a:r>
              <a:rPr lang="en-US" altLang="ko-KR" sz="900" b="1" i="1" dirty="0">
                <a:solidFill>
                  <a:srgbClr val="C0C0C0"/>
                </a:solidFill>
              </a:rPr>
              <a:t>  </a:t>
            </a:r>
            <a:r>
              <a:rPr lang="en-US" altLang="ko-KR" sz="900" b="1" i="1" dirty="0">
                <a:solidFill>
                  <a:schemeClr val="bg2">
                    <a:lumMod val="50000"/>
                  </a:schemeClr>
                </a:solidFill>
              </a:rPr>
              <a:t>Tel : (051)633-9633  E-mail : </a:t>
            </a:r>
            <a:r>
              <a:rPr lang="en-US" altLang="ko-KR" sz="900" b="1" i="1" dirty="0">
                <a:solidFill>
                  <a:schemeClr val="accent1"/>
                </a:solidFill>
              </a:rPr>
              <a:t>sales@wizmes.com</a:t>
            </a:r>
          </a:p>
        </p:txBody>
      </p:sp>
      <p:pic>
        <p:nvPicPr>
          <p:cNvPr id="8" name="그림 7" descr="부현-마크+상호.png">
            <a:extLst>
              <a:ext uri="{FF2B5EF4-FFF2-40B4-BE49-F238E27FC236}">
                <a16:creationId xmlns:a16="http://schemas.microsoft.com/office/drawing/2014/main" id="{260DD5BC-1074-0371-EFEB-360529618CA2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53555" y="6597084"/>
            <a:ext cx="1183824" cy="220828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C306415-D31B-CB32-0F02-E23A0761306B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97084"/>
            <a:ext cx="9144000" cy="6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5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F452E1-5F32-37F7-AF62-AB96E68BA5B0}"/>
              </a:ext>
            </a:extLst>
          </p:cNvPr>
          <p:cNvSpPr txBox="1"/>
          <p:nvPr/>
        </p:nvSpPr>
        <p:spPr>
          <a:xfrm>
            <a:off x="226337" y="117695"/>
            <a:ext cx="8575894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만텍 각인시스템 기능요건 정의서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C36B93-26B6-429D-8A72-972D7D474A6B}"/>
              </a:ext>
            </a:extLst>
          </p:cNvPr>
          <p:cNvSpPr txBox="1"/>
          <p:nvPr/>
        </p:nvSpPr>
        <p:spPr>
          <a:xfrm>
            <a:off x="341769" y="456249"/>
            <a:ext cx="8575894" cy="14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1. </a:t>
            </a:r>
            <a:r>
              <a:rPr lang="ko-KR" altLang="en-US" sz="1200" dirty="0"/>
              <a:t>각인기 시스템 개요</a:t>
            </a:r>
            <a:endParaRPr lang="en-US" altLang="ko-KR" sz="1200" dirty="0"/>
          </a:p>
          <a:p>
            <a:pPr marL="358775" indent="-358775">
              <a:lnSpc>
                <a:spcPct val="150000"/>
              </a:lnSpc>
            </a:pPr>
            <a:r>
              <a:rPr lang="en-US" altLang="ko-KR" sz="1200" dirty="0"/>
              <a:t>   1) </a:t>
            </a:r>
            <a:r>
              <a:rPr lang="ko-KR" altLang="en-US" sz="1200" dirty="0"/>
              <a:t>플라스틱 사출 공정에서 생산된 제품에 고객사 규격의 </a:t>
            </a:r>
            <a:r>
              <a:rPr lang="en-US" altLang="ko-KR" sz="1200" dirty="0">
                <a:highlight>
                  <a:srgbClr val="FFFF00"/>
                </a:highlight>
              </a:rPr>
              <a:t>Lot </a:t>
            </a:r>
            <a:r>
              <a:rPr lang="ko-KR" altLang="en-US" sz="1200" dirty="0">
                <a:highlight>
                  <a:srgbClr val="FFFF00"/>
                </a:highlight>
              </a:rPr>
              <a:t>번호</a:t>
            </a:r>
            <a:r>
              <a:rPr lang="ko-KR" altLang="en-US" sz="1200" dirty="0"/>
              <a:t>를 레이저로 각인하고</a:t>
            </a:r>
            <a:r>
              <a:rPr lang="en-US" altLang="ko-KR" sz="1200" dirty="0"/>
              <a:t>, </a:t>
            </a:r>
            <a:r>
              <a:rPr lang="ko-KR" altLang="en-US" sz="1200" dirty="0"/>
              <a:t>이를 기반으로 </a:t>
            </a:r>
            <a:r>
              <a:rPr lang="en-US" altLang="ko-KR" sz="1200" dirty="0"/>
              <a:t>Lot </a:t>
            </a:r>
            <a:r>
              <a:rPr lang="ko-KR" altLang="en-US" sz="1200" dirty="0"/>
              <a:t>이력과 사출조건을 조회하는 시스템이다</a:t>
            </a:r>
            <a:r>
              <a:rPr lang="en-US" altLang="ko-KR" sz="1200" dirty="0"/>
              <a:t>.</a:t>
            </a:r>
          </a:p>
          <a:p>
            <a:pPr marL="358775" indent="-358775">
              <a:lnSpc>
                <a:spcPct val="150000"/>
              </a:lnSpc>
            </a:pPr>
            <a:r>
              <a:rPr lang="ko-KR" altLang="en-US" sz="1200" dirty="0"/>
              <a:t>   </a:t>
            </a:r>
            <a:r>
              <a:rPr lang="en-US" altLang="ko-KR" sz="1200" dirty="0"/>
              <a:t>2) </a:t>
            </a:r>
            <a:r>
              <a:rPr lang="ko-KR" altLang="en-US" sz="1200" dirty="0"/>
              <a:t>각인기 시스템은 아래 개념도에 정의된 </a:t>
            </a:r>
            <a:r>
              <a:rPr lang="ko-KR" altLang="en-US" sz="1200" dirty="0">
                <a:highlight>
                  <a:srgbClr val="FFFF00"/>
                </a:highlight>
              </a:rPr>
              <a:t>전용 자동화 장치</a:t>
            </a:r>
            <a:r>
              <a:rPr lang="ko-KR" altLang="en-US" sz="1200" dirty="0"/>
              <a:t>를 통하여 레이저 각인 공정을 수행한다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 3) </a:t>
            </a:r>
            <a:r>
              <a:rPr lang="ko-KR" altLang="en-US" sz="1200" dirty="0"/>
              <a:t>각인 자동화</a:t>
            </a:r>
            <a:r>
              <a:rPr lang="en-US" altLang="ko-KR" sz="1200" dirty="0"/>
              <a:t> </a:t>
            </a:r>
            <a:r>
              <a:rPr lang="ko-KR" altLang="en-US" sz="1200" dirty="0"/>
              <a:t>장치는 </a:t>
            </a:r>
            <a:r>
              <a:rPr lang="en-US" altLang="ko-KR" sz="1200" dirty="0">
                <a:highlight>
                  <a:srgbClr val="FFFF00"/>
                </a:highlight>
              </a:rPr>
              <a:t>wizMES</a:t>
            </a:r>
            <a:r>
              <a:rPr lang="ko-KR" altLang="en-US" sz="1200" dirty="0">
                <a:highlight>
                  <a:srgbClr val="FFFF00"/>
                </a:highlight>
              </a:rPr>
              <a:t>와 연계</a:t>
            </a:r>
            <a:r>
              <a:rPr lang="ko-KR" altLang="en-US" sz="1200" dirty="0"/>
              <a:t>하여 동작되도록 구성한다</a:t>
            </a:r>
            <a:r>
              <a:rPr lang="en-US" altLang="ko-KR" sz="1200" dirty="0"/>
              <a:t>.</a:t>
            </a:r>
            <a:r>
              <a:rPr lang="ko-KR" altLang="en-US" sz="1200" dirty="0"/>
              <a:t>  </a:t>
            </a:r>
          </a:p>
        </p:txBody>
      </p:sp>
      <p:pic>
        <p:nvPicPr>
          <p:cNvPr id="6" name="그림 5" descr="텍스트, 도표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2061F6-BB73-1372-A421-7EF76E4C0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98" y="1980883"/>
            <a:ext cx="6120764" cy="4420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0451DE-33D6-E305-A0E3-AD644B948256}"/>
              </a:ext>
            </a:extLst>
          </p:cNvPr>
          <p:cNvSpPr txBox="1"/>
          <p:nvPr/>
        </p:nvSpPr>
        <p:spPr>
          <a:xfrm>
            <a:off x="6719794" y="1897862"/>
            <a:ext cx="2160240" cy="34386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82563" indent="-182563">
              <a:lnSpc>
                <a:spcPct val="150000"/>
              </a:lnSpc>
            </a:pPr>
            <a:r>
              <a:rPr lang="en-US" altLang="ko-KR" sz="1000" dirty="0"/>
              <a:t>1. “</a:t>
            </a:r>
            <a:r>
              <a:rPr lang="ko-KR" altLang="en-US" sz="1000" dirty="0"/>
              <a:t>제품 로딩</a:t>
            </a:r>
            <a:r>
              <a:rPr lang="en-US" altLang="ko-KR" sz="1000" dirty="0"/>
              <a:t>”</a:t>
            </a:r>
            <a:r>
              <a:rPr lang="ko-KR" altLang="en-US" sz="1000" dirty="0"/>
              <a:t> 공정에서는 제품을 한번에 </a:t>
            </a:r>
            <a:r>
              <a:rPr lang="en-US" altLang="ko-KR" sz="1000" dirty="0"/>
              <a:t>2</a:t>
            </a:r>
            <a:r>
              <a:rPr lang="ko-KR" altLang="en-US" sz="1000" dirty="0"/>
              <a:t>개씩 지그에 안착 시킨다</a:t>
            </a:r>
            <a:r>
              <a:rPr lang="en-US" altLang="ko-KR" sz="1000" dirty="0"/>
              <a:t>.</a:t>
            </a:r>
          </a:p>
          <a:p>
            <a:pPr marL="182563" indent="-182563">
              <a:lnSpc>
                <a:spcPct val="150000"/>
              </a:lnSpc>
            </a:pPr>
            <a:endParaRPr lang="en-US" altLang="ko-KR" sz="800" dirty="0"/>
          </a:p>
          <a:p>
            <a:pPr marL="182563" indent="-182563">
              <a:lnSpc>
                <a:spcPct val="150000"/>
              </a:lnSpc>
            </a:pPr>
            <a:r>
              <a:rPr lang="en-US" altLang="ko-KR" sz="1000" dirty="0"/>
              <a:t>2. “</a:t>
            </a:r>
            <a:r>
              <a:rPr lang="ko-KR" altLang="en-US" sz="1000" dirty="0"/>
              <a:t>레이저 각인</a:t>
            </a:r>
            <a:r>
              <a:rPr lang="en-US" altLang="ko-KR" sz="1000" dirty="0"/>
              <a:t>＂</a:t>
            </a:r>
            <a:r>
              <a:rPr lang="ko-KR" altLang="en-US" sz="1000" dirty="0"/>
              <a:t>공정에서는 규칙에 따라 </a:t>
            </a:r>
            <a:r>
              <a:rPr lang="en-US" altLang="ko-KR" sz="1000" dirty="0"/>
              <a:t>2</a:t>
            </a:r>
            <a:r>
              <a:rPr lang="ko-KR" altLang="en-US" sz="1000" dirty="0"/>
              <a:t>개의 제품에 각기 다른 </a:t>
            </a:r>
            <a:r>
              <a:rPr lang="en-US" altLang="ko-KR" sz="1000" dirty="0"/>
              <a:t>Lot </a:t>
            </a:r>
            <a:r>
              <a:rPr lang="ko-KR" altLang="en-US" sz="1000" dirty="0"/>
              <a:t>번호를 각인하여야 한다</a:t>
            </a:r>
            <a:r>
              <a:rPr lang="en-US" altLang="ko-KR" sz="1000" dirty="0"/>
              <a:t>.</a:t>
            </a:r>
          </a:p>
          <a:p>
            <a:pPr marL="182563" indent="-182563">
              <a:lnSpc>
                <a:spcPct val="150000"/>
              </a:lnSpc>
            </a:pPr>
            <a:endParaRPr lang="en-US" altLang="ko-KR" sz="800" dirty="0"/>
          </a:p>
          <a:p>
            <a:pPr marL="182563" indent="-182563">
              <a:lnSpc>
                <a:spcPct val="150000"/>
              </a:lnSpc>
            </a:pPr>
            <a:r>
              <a:rPr lang="en-US" altLang="ko-KR" sz="1000" dirty="0"/>
              <a:t>3. “</a:t>
            </a:r>
            <a:r>
              <a:rPr lang="ko-KR" altLang="en-US" sz="1000" dirty="0"/>
              <a:t>각인 리딩 및 검사</a:t>
            </a:r>
            <a:r>
              <a:rPr lang="en-US" altLang="ko-KR" sz="1000" dirty="0"/>
              <a:t>”</a:t>
            </a:r>
            <a:r>
              <a:rPr lang="ko-KR" altLang="en-US" sz="1000" dirty="0"/>
              <a:t>공정에서는 </a:t>
            </a:r>
            <a:r>
              <a:rPr lang="en-US" altLang="ko-KR" sz="1000" dirty="0"/>
              <a:t>2</a:t>
            </a:r>
            <a:r>
              <a:rPr lang="ko-KR" altLang="en-US" sz="1000" dirty="0"/>
              <a:t>차원 스캐너로 스캔한 데이터를 받아서 양품과 불량품을 구분하여야 한다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pPr marL="182563" indent="-182563">
              <a:lnSpc>
                <a:spcPct val="150000"/>
              </a:lnSpc>
            </a:pPr>
            <a:endParaRPr lang="en-US" altLang="ko-KR" sz="1000" dirty="0"/>
          </a:p>
          <a:p>
            <a:pPr marL="182563" indent="-182563">
              <a:lnSpc>
                <a:spcPct val="150000"/>
              </a:lnSpc>
            </a:pP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20306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94364-1E45-3502-0D33-90D7598B7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7A77FB-2741-2856-84CA-CDFC3196A73A}"/>
              </a:ext>
            </a:extLst>
          </p:cNvPr>
          <p:cNvSpPr txBox="1"/>
          <p:nvPr/>
        </p:nvSpPr>
        <p:spPr>
          <a:xfrm>
            <a:off x="341769" y="456249"/>
            <a:ext cx="8575894" cy="339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2. Lot No.</a:t>
            </a:r>
            <a:r>
              <a:rPr lang="ko-KR" altLang="en-US" sz="1200" dirty="0"/>
              <a:t> 발행 규칙 </a:t>
            </a:r>
            <a:r>
              <a:rPr lang="en-US" altLang="ko-KR" sz="1200" dirty="0"/>
              <a:t>– 29</a:t>
            </a:r>
            <a:r>
              <a:rPr lang="ko-KR" altLang="en-US" sz="1200" dirty="0"/>
              <a:t>문자</a:t>
            </a:r>
            <a:endParaRPr lang="en-US" altLang="ko-KR" sz="1200" dirty="0"/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EC9F63-8B54-F272-3C2E-B3FAD7676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722" y="980723"/>
            <a:ext cx="6264696" cy="1643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160797-E799-0215-C8E7-213FBD0357F0}"/>
              </a:ext>
            </a:extLst>
          </p:cNvPr>
          <p:cNvSpPr txBox="1"/>
          <p:nvPr/>
        </p:nvSpPr>
        <p:spPr>
          <a:xfrm>
            <a:off x="898714" y="2408047"/>
            <a:ext cx="5472608" cy="524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/>
              <a:t>*. Lot </a:t>
            </a:r>
            <a:r>
              <a:rPr lang="ko-KR" altLang="en-US" sz="1000" dirty="0"/>
              <a:t>구성 요소</a:t>
            </a:r>
            <a:r>
              <a:rPr lang="en-US" altLang="ko-KR" sz="1000" dirty="0"/>
              <a:t>1 (23</a:t>
            </a:r>
            <a:r>
              <a:rPr lang="ko-KR" altLang="en-US" sz="1000" dirty="0"/>
              <a:t>자리</a:t>
            </a:r>
            <a:r>
              <a:rPr lang="en-US" altLang="ko-KR" sz="1000" dirty="0"/>
              <a:t>)</a:t>
            </a:r>
            <a:br>
              <a:rPr lang="en-US" altLang="ko-KR" sz="1000" dirty="0"/>
            </a:br>
            <a:r>
              <a:rPr lang="en-US" altLang="ko-KR" sz="1000" dirty="0"/>
              <a:t>Lot</a:t>
            </a:r>
            <a:r>
              <a:rPr lang="ko-KR" altLang="en-US" sz="1000" dirty="0"/>
              <a:t> 코드</a:t>
            </a:r>
            <a:r>
              <a:rPr lang="en-US" altLang="ko-KR" sz="1000" dirty="0"/>
              <a:t>  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B3E9E-E1AF-FFA0-C71D-92431DA391F7}"/>
              </a:ext>
            </a:extLst>
          </p:cNvPr>
          <p:cNvSpPr txBox="1"/>
          <p:nvPr/>
        </p:nvSpPr>
        <p:spPr>
          <a:xfrm>
            <a:off x="6443330" y="2408047"/>
            <a:ext cx="792088" cy="755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dirty="0"/>
              <a:t>*. Lot </a:t>
            </a:r>
            <a:r>
              <a:rPr lang="ko-KR" altLang="en-US" sz="1000" dirty="0"/>
              <a:t>구성 요소</a:t>
            </a:r>
            <a:r>
              <a:rPr lang="en-US" altLang="ko-KR" sz="1000" dirty="0"/>
              <a:t>2 </a:t>
            </a:r>
          </a:p>
          <a:p>
            <a:pPr algn="ctr">
              <a:lnSpc>
                <a:spcPct val="150000"/>
              </a:lnSpc>
            </a:pPr>
            <a:r>
              <a:rPr lang="en-US" altLang="ko-KR" sz="1000" dirty="0"/>
              <a:t>Lot ser </a:t>
            </a:r>
            <a:endParaRPr lang="ko-KR" altLang="en-US" sz="10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8749D2D-D908-116C-E225-B80B539B6143}"/>
              </a:ext>
            </a:extLst>
          </p:cNvPr>
          <p:cNvCxnSpPr>
            <a:cxnSpLocks/>
          </p:cNvCxnSpPr>
          <p:nvPr/>
        </p:nvCxnSpPr>
        <p:spPr>
          <a:xfrm flipH="1">
            <a:off x="6443330" y="2408047"/>
            <a:ext cx="766956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1986B44-88E8-EA49-4715-4E2D8D5A61CF}"/>
              </a:ext>
            </a:extLst>
          </p:cNvPr>
          <p:cNvCxnSpPr>
            <a:cxnSpLocks/>
          </p:cNvCxnSpPr>
          <p:nvPr/>
        </p:nvCxnSpPr>
        <p:spPr>
          <a:xfrm flipH="1">
            <a:off x="1402770" y="2408047"/>
            <a:ext cx="5040560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DCA4688-C3C4-5996-596A-B0CB8620B100}"/>
              </a:ext>
            </a:extLst>
          </p:cNvPr>
          <p:cNvSpPr txBox="1"/>
          <p:nvPr/>
        </p:nvSpPr>
        <p:spPr>
          <a:xfrm>
            <a:off x="1032674" y="3334957"/>
            <a:ext cx="6264696" cy="524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/>
              <a:t>*. Lot No.</a:t>
            </a:r>
            <a:r>
              <a:rPr lang="ko-KR" altLang="en-US" sz="1000" dirty="0"/>
              <a:t>발행 규칙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  1. </a:t>
            </a:r>
            <a:r>
              <a:rPr lang="ko-KR" altLang="en-US" sz="1000" dirty="0"/>
              <a:t>상기 </a:t>
            </a:r>
            <a:r>
              <a:rPr lang="en-US" altLang="ko-KR" sz="1000" dirty="0"/>
              <a:t>“Lot </a:t>
            </a:r>
            <a:r>
              <a:rPr lang="ko-KR" altLang="en-US" sz="1000" dirty="0"/>
              <a:t>구성 요소</a:t>
            </a:r>
            <a:r>
              <a:rPr lang="en-US" altLang="ko-KR" sz="1000" dirty="0"/>
              <a:t>1 (23</a:t>
            </a:r>
            <a:r>
              <a:rPr lang="ko-KR" altLang="en-US" sz="1000" dirty="0"/>
              <a:t>자리</a:t>
            </a:r>
            <a:r>
              <a:rPr lang="en-US" altLang="ko-KR" sz="1000" dirty="0"/>
              <a:t>) “ + Lot </a:t>
            </a:r>
            <a:r>
              <a:rPr lang="ko-KR" altLang="en-US" sz="1000" dirty="0"/>
              <a:t>구성 요소</a:t>
            </a:r>
            <a:r>
              <a:rPr lang="en-US" altLang="ko-KR" sz="1000" dirty="0"/>
              <a:t>2 (</a:t>
            </a:r>
            <a:r>
              <a:rPr lang="ko-KR" altLang="en-US" sz="1000" dirty="0"/>
              <a:t>순서번호로 </a:t>
            </a:r>
            <a:r>
              <a:rPr lang="en-US" altLang="ko-KR" sz="1000" dirty="0"/>
              <a:t>000001 ~ 999999 </a:t>
            </a:r>
            <a:r>
              <a:rPr lang="ko-KR" altLang="en-US" sz="1000" dirty="0"/>
              <a:t>까지 </a:t>
            </a:r>
            <a:r>
              <a:rPr lang="en-US" altLang="ko-KR" sz="1000" dirty="0"/>
              <a:t>1</a:t>
            </a:r>
            <a:r>
              <a:rPr lang="ko-KR" altLang="en-US" sz="1000" dirty="0"/>
              <a:t>씩 증가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A1A5E-4C43-BD45-6404-5FD59CA14FDE}"/>
              </a:ext>
            </a:extLst>
          </p:cNvPr>
          <p:cNvSpPr txBox="1"/>
          <p:nvPr/>
        </p:nvSpPr>
        <p:spPr>
          <a:xfrm>
            <a:off x="226337" y="117695"/>
            <a:ext cx="8575894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만텍 각인시스템 기능요건 정의서</a:t>
            </a:r>
          </a:p>
        </p:txBody>
      </p:sp>
    </p:spTree>
    <p:extLst>
      <p:ext uri="{BB962C8B-B14F-4D97-AF65-F5344CB8AC3E}">
        <p14:creationId xmlns:p14="http://schemas.microsoft.com/office/powerpoint/2010/main" val="2035408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8DEC9-CF34-F3EF-32DB-EEA5F975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806536-36F3-5E9F-24E9-C7C35ABE456B}"/>
              </a:ext>
            </a:extLst>
          </p:cNvPr>
          <p:cNvSpPr txBox="1"/>
          <p:nvPr/>
        </p:nvSpPr>
        <p:spPr>
          <a:xfrm>
            <a:off x="341769" y="456249"/>
            <a:ext cx="8575894" cy="339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3. </a:t>
            </a:r>
            <a:r>
              <a:rPr lang="ko-KR" altLang="en-US" sz="1200" dirty="0"/>
              <a:t>운영 순서</a:t>
            </a:r>
            <a:endParaRPr lang="en-US" altLang="ko-KR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3644DA-31F9-D2D4-6876-290BF585EA5D}"/>
              </a:ext>
            </a:extLst>
          </p:cNvPr>
          <p:cNvSpPr txBox="1"/>
          <p:nvPr/>
        </p:nvSpPr>
        <p:spPr>
          <a:xfrm>
            <a:off x="544285" y="794803"/>
            <a:ext cx="6858000" cy="5573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b="1" dirty="0">
                <a:latin typeface="+mn-ea"/>
              </a:rPr>
              <a:t>1) </a:t>
            </a:r>
            <a:r>
              <a:rPr lang="ko-KR" altLang="en-US" sz="1200" b="1" dirty="0">
                <a:latin typeface="+mn-ea"/>
              </a:rPr>
              <a:t>사출공정</a:t>
            </a:r>
            <a:endParaRPr lang="en-US" altLang="ko-KR" sz="12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1200" b="1" dirty="0">
                <a:latin typeface="+mn-ea"/>
              </a:rPr>
              <a:t>1-1) </a:t>
            </a:r>
            <a:r>
              <a:rPr lang="ko-KR" altLang="en-US" sz="1200" b="1" dirty="0">
                <a:latin typeface="+mn-ea"/>
              </a:rPr>
              <a:t>생산 데이터 등록</a:t>
            </a:r>
            <a:r>
              <a:rPr lang="en-US" altLang="ko-KR" sz="1200" b="1" dirty="0">
                <a:latin typeface="+mn-ea"/>
              </a:rPr>
              <a:t>:</a:t>
            </a:r>
            <a:r>
              <a:rPr lang="ko-KR" altLang="en-US" sz="1200" dirty="0">
                <a:latin typeface="+mn-ea"/>
              </a:rPr>
              <a:t> 제조 공정 중 발생하는 주요 </a:t>
            </a:r>
            <a:r>
              <a:rPr lang="en-US" altLang="ko-KR" sz="1200" b="1" dirty="0">
                <a:latin typeface="+mn-ea"/>
              </a:rPr>
              <a:t>'</a:t>
            </a:r>
            <a:r>
              <a:rPr lang="ko-KR" altLang="en-US" sz="1200" b="1" dirty="0">
                <a:latin typeface="+mn-ea"/>
              </a:rPr>
              <a:t>사출 조건</a:t>
            </a:r>
            <a:r>
              <a:rPr lang="en-US" altLang="ko-KR" sz="1200" b="1" dirty="0">
                <a:latin typeface="+mn-ea"/>
              </a:rPr>
              <a:t>'</a:t>
            </a:r>
            <a:r>
              <a:rPr lang="ko-KR" altLang="en-US" sz="1200" dirty="0">
                <a:latin typeface="+mn-ea"/>
              </a:rPr>
              <a:t> 데이터를 시스템에 등록한다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만텍 확인사항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관리 항목 선정 필요</a:t>
            </a:r>
          </a:p>
          <a:p>
            <a:pPr>
              <a:lnSpc>
                <a:spcPct val="200000"/>
              </a:lnSpc>
            </a:pPr>
            <a:r>
              <a:rPr lang="en-US" altLang="ko-KR" sz="1200" b="1" dirty="0">
                <a:latin typeface="+mn-ea"/>
              </a:rPr>
              <a:t>1-2) </a:t>
            </a:r>
            <a:r>
              <a:rPr lang="ko-KR" altLang="en-US" sz="1200" b="1" dirty="0">
                <a:latin typeface="+mn-ea"/>
              </a:rPr>
              <a:t>공정품 생산입고</a:t>
            </a:r>
            <a:r>
              <a:rPr lang="en-US" altLang="ko-KR" sz="1200" b="1" dirty="0">
                <a:latin typeface="+mn-ea"/>
              </a:rPr>
              <a:t>:</a:t>
            </a:r>
            <a:r>
              <a:rPr lang="ko-KR" altLang="en-US" sz="1200" dirty="0">
                <a:latin typeface="+mn-ea"/>
              </a:rPr>
              <a:t> 생산 완료 후 </a:t>
            </a:r>
            <a:r>
              <a:rPr lang="en-US" altLang="ko-KR" sz="1200" dirty="0">
                <a:latin typeface="+mn-ea"/>
              </a:rPr>
              <a:t>POP </a:t>
            </a:r>
            <a:r>
              <a:rPr lang="ko-KR" altLang="en-US" sz="1200" dirty="0">
                <a:latin typeface="+mn-ea"/>
              </a:rPr>
              <a:t>시스템을 통해 재고로 등록한다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200" b="1" dirty="0">
                <a:latin typeface="+mn-ea"/>
              </a:rPr>
              <a:t>1-3) </a:t>
            </a:r>
            <a:r>
              <a:rPr lang="ko-KR" altLang="en-US" sz="1200" b="1" dirty="0">
                <a:latin typeface="+mn-ea"/>
              </a:rPr>
              <a:t>물류 바코드 라벨 발행</a:t>
            </a:r>
            <a:r>
              <a:rPr lang="en-US" altLang="ko-KR" sz="1200" b="1" dirty="0">
                <a:latin typeface="+mn-ea"/>
              </a:rPr>
              <a:t>: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'</a:t>
            </a:r>
            <a:r>
              <a:rPr lang="ko-KR" altLang="en-US" sz="1200" dirty="0">
                <a:latin typeface="+mn-ea"/>
              </a:rPr>
              <a:t>생산입고</a:t>
            </a:r>
            <a:r>
              <a:rPr lang="en-US" altLang="ko-KR" sz="1200" dirty="0">
                <a:latin typeface="+mn-ea"/>
              </a:rPr>
              <a:t>' </a:t>
            </a:r>
            <a:r>
              <a:rPr lang="ko-KR" altLang="en-US" sz="1200" dirty="0">
                <a:latin typeface="+mn-ea"/>
              </a:rPr>
              <a:t>시점에 해당 제품의 물류 식별을 위한 라벨을 출력한다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ko-KR" altLang="en-US" sz="1200" b="1" dirty="0">
                <a:latin typeface="+mn-ea"/>
              </a:rPr>
              <a:t>라벨 포함 항목</a:t>
            </a:r>
            <a:r>
              <a:rPr lang="en-US" altLang="ko-KR" sz="1200" b="1" dirty="0">
                <a:latin typeface="+mn-ea"/>
              </a:rPr>
              <a:t>:</a:t>
            </a:r>
            <a:r>
              <a:rPr lang="ko-KR" altLang="en-US" sz="1200" dirty="0">
                <a:latin typeface="+mn-ea"/>
              </a:rPr>
              <a:t> 물류 바코드</a:t>
            </a:r>
            <a:r>
              <a:rPr lang="en-US" altLang="ko-KR" sz="1200" dirty="0">
                <a:latin typeface="+mn-ea"/>
              </a:rPr>
              <a:t>(1</a:t>
            </a:r>
            <a:r>
              <a:rPr lang="ko-KR" altLang="en-US" sz="1200" dirty="0">
                <a:latin typeface="+mn-ea"/>
              </a:rPr>
              <a:t>차원</a:t>
            </a:r>
            <a:r>
              <a:rPr lang="en-US" altLang="ko-KR" sz="1200" dirty="0">
                <a:latin typeface="+mn-ea"/>
              </a:rPr>
              <a:t>), Lot </a:t>
            </a:r>
            <a:r>
              <a:rPr lang="ko-KR" altLang="en-US" sz="1200" dirty="0">
                <a:latin typeface="+mn-ea"/>
              </a:rPr>
              <a:t>바코드</a:t>
            </a:r>
            <a:r>
              <a:rPr lang="en-US" altLang="ko-KR" sz="1200" dirty="0">
                <a:latin typeface="+mn-ea"/>
              </a:rPr>
              <a:t>(Lot Code 23</a:t>
            </a:r>
            <a:r>
              <a:rPr lang="ko-KR" altLang="en-US" sz="1200" dirty="0">
                <a:latin typeface="+mn-ea"/>
              </a:rPr>
              <a:t>자리</a:t>
            </a:r>
            <a:r>
              <a:rPr lang="en-US" altLang="ko-KR" sz="1200" dirty="0">
                <a:latin typeface="+mn-ea"/>
              </a:rPr>
              <a:t>), Lot </a:t>
            </a:r>
            <a:r>
              <a:rPr lang="ko-KR" altLang="en-US" sz="1200" dirty="0">
                <a:latin typeface="+mn-ea"/>
              </a:rPr>
              <a:t>일련번호</a:t>
            </a:r>
            <a:r>
              <a:rPr lang="en-US" altLang="ko-KR" sz="1200" dirty="0">
                <a:latin typeface="+mn-ea"/>
              </a:rPr>
              <a:t>(6</a:t>
            </a:r>
            <a:r>
              <a:rPr lang="ko-KR" altLang="en-US" sz="1200" dirty="0">
                <a:latin typeface="+mn-ea"/>
              </a:rPr>
              <a:t>자리 순서번호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>
                <a:latin typeface="+mn-ea"/>
              </a:rPr>
              <a:t>및 육안식별 문자를 포함한다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만텍 확인사항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라벨 규격 및 디자인 확정 필요</a:t>
            </a:r>
          </a:p>
          <a:p>
            <a:pPr>
              <a:lnSpc>
                <a:spcPct val="200000"/>
              </a:lnSpc>
            </a:pPr>
            <a:r>
              <a:rPr lang="en-US" altLang="ko-KR" sz="1200" b="1" dirty="0">
                <a:latin typeface="+mn-ea"/>
              </a:rPr>
              <a:t>2) </a:t>
            </a:r>
            <a:r>
              <a:rPr lang="ko-KR" altLang="en-US" sz="1200" b="1" dirty="0">
                <a:latin typeface="+mn-ea"/>
              </a:rPr>
              <a:t>각인 공정 </a:t>
            </a:r>
            <a:r>
              <a:rPr lang="en-US" altLang="ko-KR" sz="1200" b="1" dirty="0">
                <a:latin typeface="+mn-ea"/>
              </a:rPr>
              <a:t>(Marking Process)</a:t>
            </a:r>
          </a:p>
          <a:p>
            <a:pPr>
              <a:lnSpc>
                <a:spcPct val="200000"/>
              </a:lnSpc>
            </a:pPr>
            <a:r>
              <a:rPr lang="en-US" altLang="ko-KR" sz="1200" b="1" dirty="0">
                <a:latin typeface="+mn-ea"/>
              </a:rPr>
              <a:t>2-1) </a:t>
            </a:r>
            <a:r>
              <a:rPr lang="ko-KR" altLang="en-US" sz="1200" b="1" dirty="0">
                <a:latin typeface="+mn-ea"/>
              </a:rPr>
              <a:t>각인 대상 투입</a:t>
            </a:r>
            <a:r>
              <a:rPr lang="en-US" altLang="ko-KR" sz="1200" b="1" dirty="0">
                <a:latin typeface="+mn-ea"/>
              </a:rPr>
              <a:t>:</a:t>
            </a:r>
            <a:r>
              <a:rPr lang="ko-KR" altLang="en-US" sz="1200" dirty="0">
                <a:latin typeface="+mn-ea"/>
              </a:rPr>
              <a:t> 사출 공정이 완료된 대상물을 각인 자동화 설비로 투입한다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200" b="1" dirty="0">
                <a:latin typeface="+mn-ea"/>
              </a:rPr>
              <a:t>2-2) </a:t>
            </a:r>
            <a:r>
              <a:rPr lang="ko-KR" altLang="en-US" sz="1200" b="1" dirty="0">
                <a:latin typeface="+mn-ea"/>
              </a:rPr>
              <a:t>레이저 각인 수행</a:t>
            </a:r>
            <a:r>
              <a:rPr lang="en-US" altLang="ko-KR" sz="1200" b="1" dirty="0">
                <a:latin typeface="+mn-ea"/>
              </a:rPr>
              <a:t>:</a:t>
            </a:r>
            <a:r>
              <a:rPr lang="ko-KR" altLang="en-US" sz="1200" dirty="0">
                <a:latin typeface="+mn-ea"/>
              </a:rPr>
              <a:t> 설정된 규격에 따라 대상물 표면에 레이저 마킹을 실행한다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200" b="1" dirty="0">
                <a:latin typeface="+mn-ea"/>
              </a:rPr>
              <a:t>2-3) </a:t>
            </a:r>
            <a:r>
              <a:rPr lang="ko-KR" altLang="en-US" sz="1200" b="1" dirty="0">
                <a:latin typeface="+mn-ea"/>
              </a:rPr>
              <a:t>공정 결과 기록</a:t>
            </a:r>
            <a:r>
              <a:rPr lang="en-US" altLang="ko-KR" sz="1200" b="1" dirty="0">
                <a:latin typeface="+mn-ea"/>
              </a:rPr>
              <a:t>:</a:t>
            </a:r>
            <a:r>
              <a:rPr lang="ko-KR" altLang="en-US" sz="1200" dirty="0">
                <a:latin typeface="+mn-ea"/>
              </a:rPr>
              <a:t> 각인 작업 완료 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합격</a:t>
            </a:r>
            <a:r>
              <a:rPr lang="en-US" altLang="ko-KR" sz="1200" dirty="0">
                <a:latin typeface="+mn-ea"/>
              </a:rPr>
              <a:t>/</a:t>
            </a:r>
            <a:r>
              <a:rPr lang="ko-KR" altLang="en-US" sz="1200" dirty="0">
                <a:latin typeface="+mn-ea"/>
              </a:rPr>
              <a:t>불합격 여부를 시스템에 최종 저장한다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1200" dirty="0">
                <a:latin typeface="+mn-ea"/>
              </a:rPr>
              <a:t>* </a:t>
            </a:r>
            <a:r>
              <a:rPr lang="ko-KR" altLang="en-US" sz="1200" dirty="0" err="1">
                <a:latin typeface="+mn-ea"/>
              </a:rPr>
              <a:t>만텍</a:t>
            </a:r>
            <a:r>
              <a:rPr lang="ko-KR" altLang="en-US" sz="1200">
                <a:latin typeface="+mn-ea"/>
              </a:rPr>
              <a:t> 사전 준비사항 </a:t>
            </a:r>
            <a:r>
              <a:rPr lang="en-US" altLang="ko-KR" sz="1200" dirty="0">
                <a:latin typeface="+mn-ea"/>
              </a:rPr>
              <a:t>: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  1) </a:t>
            </a:r>
            <a:r>
              <a:rPr lang="ko-KR" altLang="en-US" sz="1200" dirty="0">
                <a:latin typeface="+mn-ea"/>
              </a:rPr>
              <a:t>각인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대상 품 정보 </a:t>
            </a:r>
            <a:r>
              <a:rPr lang="en-US" altLang="ko-KR" sz="1200" dirty="0">
                <a:latin typeface="+mn-ea"/>
              </a:rPr>
              <a:t>-&gt; </a:t>
            </a:r>
            <a:r>
              <a:rPr lang="ko-KR" altLang="en-US" sz="1200" dirty="0">
                <a:latin typeface="+mn-ea"/>
              </a:rPr>
              <a:t>품번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품목코드</a:t>
            </a:r>
            <a:r>
              <a:rPr lang="en-US" altLang="ko-KR" sz="1200" dirty="0">
                <a:latin typeface="+mn-ea"/>
              </a:rPr>
              <a:t>), Lot</a:t>
            </a:r>
            <a:r>
              <a:rPr lang="ko-KR" altLang="en-US" sz="1200" dirty="0">
                <a:latin typeface="+mn-ea"/>
              </a:rPr>
              <a:t>구성 요소 등</a:t>
            </a:r>
            <a:endParaRPr lang="en-US" altLang="ko-KR" sz="12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F138CD-9197-73FA-9F6C-DD4E064AC3F9}"/>
              </a:ext>
            </a:extLst>
          </p:cNvPr>
          <p:cNvSpPr txBox="1"/>
          <p:nvPr/>
        </p:nvSpPr>
        <p:spPr>
          <a:xfrm>
            <a:off x="226337" y="117695"/>
            <a:ext cx="8575894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만텍 각인시스템 기능요건 정의서</a:t>
            </a:r>
          </a:p>
        </p:txBody>
      </p:sp>
    </p:spTree>
    <p:extLst>
      <p:ext uri="{BB962C8B-B14F-4D97-AF65-F5344CB8AC3E}">
        <p14:creationId xmlns:p14="http://schemas.microsoft.com/office/powerpoint/2010/main" val="2538293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6A53B-37CA-3748-A2DE-2B6DA69D7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008195-8C06-6DB3-7C3B-6FB347BBBF80}"/>
              </a:ext>
            </a:extLst>
          </p:cNvPr>
          <p:cNvSpPr txBox="1"/>
          <p:nvPr/>
        </p:nvSpPr>
        <p:spPr>
          <a:xfrm>
            <a:off x="341769" y="456249"/>
            <a:ext cx="8575894" cy="339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4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사출조건 등록 화면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" name="그림 9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A63D48-4113-97E4-049A-03087B7C1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02" y="931261"/>
            <a:ext cx="8575895" cy="44578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7AA40C-AD0E-6C27-7435-30F0F0F87C4D}"/>
              </a:ext>
            </a:extLst>
          </p:cNvPr>
          <p:cNvSpPr txBox="1"/>
          <p:nvPr/>
        </p:nvSpPr>
        <p:spPr>
          <a:xfrm>
            <a:off x="226337" y="117695"/>
            <a:ext cx="8575894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만텍 각인시스템 기능요건 정의서</a:t>
            </a:r>
          </a:p>
        </p:txBody>
      </p:sp>
    </p:spTree>
    <p:extLst>
      <p:ext uri="{BB962C8B-B14F-4D97-AF65-F5344CB8AC3E}">
        <p14:creationId xmlns:p14="http://schemas.microsoft.com/office/powerpoint/2010/main" val="1177448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D77A6-1C21-A0A2-04D4-9A32AEE4D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CBA1F3-E2E0-CE56-A863-AE17682C88CD}"/>
              </a:ext>
            </a:extLst>
          </p:cNvPr>
          <p:cNvSpPr txBox="1"/>
          <p:nvPr/>
        </p:nvSpPr>
        <p:spPr>
          <a:xfrm>
            <a:off x="341769" y="456249"/>
            <a:ext cx="8575894" cy="339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5. </a:t>
            </a:r>
            <a:r>
              <a:rPr lang="ko-KR" altLang="en-US" sz="1200" dirty="0"/>
              <a:t>각인기 운영 화면</a:t>
            </a:r>
            <a:endParaRPr lang="en-US" altLang="ko-KR" sz="1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FCD1FB-2347-6778-D869-4D04B77D61E9}"/>
              </a:ext>
            </a:extLst>
          </p:cNvPr>
          <p:cNvSpPr/>
          <p:nvPr/>
        </p:nvSpPr>
        <p:spPr>
          <a:xfrm>
            <a:off x="78042" y="896300"/>
            <a:ext cx="8979054" cy="52578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89BFB-B3AB-9F56-0FC7-6BD9189DB0C4}"/>
              </a:ext>
            </a:extLst>
          </p:cNvPr>
          <p:cNvSpPr txBox="1"/>
          <p:nvPr/>
        </p:nvSpPr>
        <p:spPr>
          <a:xfrm>
            <a:off x="314814" y="1014896"/>
            <a:ext cx="2520280" cy="276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각인 장치 제어 관리 시스템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827B7C8-7399-94EC-AA03-6F9ADC3CF62D}"/>
              </a:ext>
            </a:extLst>
          </p:cNvPr>
          <p:cNvGrpSpPr/>
          <p:nvPr/>
        </p:nvGrpSpPr>
        <p:grpSpPr>
          <a:xfrm>
            <a:off x="213648" y="2036810"/>
            <a:ext cx="2345436" cy="283897"/>
            <a:chOff x="476672" y="5529064"/>
            <a:chExt cx="2345436" cy="28389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9BD314-30B5-5E61-F231-9DF4898C729E}"/>
                </a:ext>
              </a:extLst>
            </p:cNvPr>
            <p:cNvSpPr txBox="1"/>
            <p:nvPr/>
          </p:nvSpPr>
          <p:spPr>
            <a:xfrm>
              <a:off x="476672" y="552906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물류 바코드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: 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D34C7AD-8179-DA0F-A76D-E0CDD533BF49}"/>
                </a:ext>
              </a:extLst>
            </p:cNvPr>
            <p:cNvSpPr/>
            <p:nvPr/>
          </p:nvSpPr>
          <p:spPr>
            <a:xfrm>
              <a:off x="1628800" y="5545906"/>
              <a:ext cx="1193308" cy="267055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EDE09F0A-C543-9C1D-7058-D4252DCE5DED}"/>
              </a:ext>
            </a:extLst>
          </p:cNvPr>
          <p:cNvGrpSpPr/>
          <p:nvPr/>
        </p:nvGrpSpPr>
        <p:grpSpPr>
          <a:xfrm>
            <a:off x="213648" y="2540866"/>
            <a:ext cx="2520280" cy="276999"/>
            <a:chOff x="476672" y="5529064"/>
            <a:chExt cx="2520280" cy="27699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866BA1-0757-751C-235A-08202AEE6442}"/>
                </a:ext>
              </a:extLst>
            </p:cNvPr>
            <p:cNvSpPr txBox="1"/>
            <p:nvPr/>
          </p:nvSpPr>
          <p:spPr>
            <a:xfrm>
              <a:off x="476672" y="552906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품명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: 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8812FE2-C20B-109A-1746-BB9971B1CBF7}"/>
                </a:ext>
              </a:extLst>
            </p:cNvPr>
            <p:cNvSpPr/>
            <p:nvPr/>
          </p:nvSpPr>
          <p:spPr>
            <a:xfrm>
              <a:off x="1628800" y="5545907"/>
              <a:ext cx="1368152" cy="2601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39B0B6F-ACD1-7D94-AAD9-92E6279CC432}"/>
              </a:ext>
            </a:extLst>
          </p:cNvPr>
          <p:cNvGrpSpPr/>
          <p:nvPr/>
        </p:nvGrpSpPr>
        <p:grpSpPr>
          <a:xfrm>
            <a:off x="213648" y="2972914"/>
            <a:ext cx="2520280" cy="276999"/>
            <a:chOff x="476672" y="5529064"/>
            <a:chExt cx="2520280" cy="27699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366FAE-12A6-1888-E4EB-8B6418A8A6A3}"/>
                </a:ext>
              </a:extLst>
            </p:cNvPr>
            <p:cNvSpPr txBox="1"/>
            <p:nvPr/>
          </p:nvSpPr>
          <p:spPr>
            <a:xfrm>
              <a:off x="476672" y="552906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제조일자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: 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73A8205-9335-196A-351C-C46E0351AB25}"/>
                </a:ext>
              </a:extLst>
            </p:cNvPr>
            <p:cNvSpPr/>
            <p:nvPr/>
          </p:nvSpPr>
          <p:spPr>
            <a:xfrm>
              <a:off x="1628800" y="5545907"/>
              <a:ext cx="1368152" cy="2601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BB5AC9E-60EA-64D0-9B32-E1B3BF1DD6F9}"/>
              </a:ext>
            </a:extLst>
          </p:cNvPr>
          <p:cNvGrpSpPr/>
          <p:nvPr/>
        </p:nvGrpSpPr>
        <p:grpSpPr>
          <a:xfrm>
            <a:off x="195176" y="3427409"/>
            <a:ext cx="2520280" cy="276999"/>
            <a:chOff x="476672" y="5529064"/>
            <a:chExt cx="2520280" cy="27699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84EE79C-C0E1-FEBC-D4D0-A134703362ED}"/>
                </a:ext>
              </a:extLst>
            </p:cNvPr>
            <p:cNvSpPr txBox="1"/>
            <p:nvPr/>
          </p:nvSpPr>
          <p:spPr>
            <a:xfrm>
              <a:off x="476672" y="552906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용기내 수량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: 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E57D8A0-6AAC-5F5D-E47A-78EE2672F54B}"/>
                </a:ext>
              </a:extLst>
            </p:cNvPr>
            <p:cNvSpPr/>
            <p:nvPr/>
          </p:nvSpPr>
          <p:spPr>
            <a:xfrm>
              <a:off x="1628800" y="5545907"/>
              <a:ext cx="1368152" cy="2601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9554C1D-7357-F7B5-B7F5-11F2557153D8}"/>
              </a:ext>
            </a:extLst>
          </p:cNvPr>
          <p:cNvGrpSpPr/>
          <p:nvPr/>
        </p:nvGrpSpPr>
        <p:grpSpPr>
          <a:xfrm>
            <a:off x="213648" y="3935099"/>
            <a:ext cx="2520280" cy="276999"/>
            <a:chOff x="213648" y="3935099"/>
            <a:chExt cx="2520280" cy="27699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45B333A-343D-39CC-597B-6DD839FD1C6E}"/>
                </a:ext>
              </a:extLst>
            </p:cNvPr>
            <p:cNvSpPr txBox="1"/>
            <p:nvPr/>
          </p:nvSpPr>
          <p:spPr>
            <a:xfrm>
              <a:off x="213648" y="3935099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Lot</a:t>
              </a:r>
              <a:r>
                <a:rPr lang="ko-KR" altLang="en-US" sz="1200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 코드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: 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B5B694D-5249-CCCB-7213-C0D6C9E17444}"/>
                </a:ext>
              </a:extLst>
            </p:cNvPr>
            <p:cNvSpPr/>
            <p:nvPr/>
          </p:nvSpPr>
          <p:spPr>
            <a:xfrm>
              <a:off x="1365776" y="3951942"/>
              <a:ext cx="1368152" cy="2601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9927AB03-D84F-89D4-172A-05AAF2C17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083318"/>
              </p:ext>
            </p:extLst>
          </p:nvPr>
        </p:nvGraphicFramePr>
        <p:xfrm>
          <a:off x="3174539" y="1989340"/>
          <a:ext cx="5281591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443">
                  <a:extLst>
                    <a:ext uri="{9D8B030D-6E8A-4147-A177-3AD203B41FA5}">
                      <a16:colId xmlns:a16="http://schemas.microsoft.com/office/drawing/2014/main" val="804405052"/>
                    </a:ext>
                  </a:extLst>
                </a:gridCol>
                <a:gridCol w="2155766">
                  <a:extLst>
                    <a:ext uri="{9D8B030D-6E8A-4147-A177-3AD203B41FA5}">
                      <a16:colId xmlns:a16="http://schemas.microsoft.com/office/drawing/2014/main" val="2668324768"/>
                    </a:ext>
                  </a:extLst>
                </a:gridCol>
                <a:gridCol w="993382">
                  <a:extLst>
                    <a:ext uri="{9D8B030D-6E8A-4147-A177-3AD203B41FA5}">
                      <a16:colId xmlns:a16="http://schemas.microsoft.com/office/drawing/2014/main" val="9840763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물류 바코드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Lot</a:t>
                      </a:r>
                      <a:r>
                        <a:rPr lang="ko-KR" altLang="en-US" sz="1400" dirty="0"/>
                        <a:t> 바코드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검사결과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886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596071"/>
                  </a:ext>
                </a:extLst>
              </a:tr>
              <a:tr h="26009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202333"/>
                  </a:ext>
                </a:extLst>
              </a:tr>
              <a:tr h="22301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808645"/>
                  </a:ext>
                </a:extLst>
              </a:tr>
              <a:tr h="18592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712604"/>
                  </a:ext>
                </a:extLst>
              </a:tr>
              <a:tr h="1488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687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595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374689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5AA0F7E3-CE95-A3E8-FB4F-AD1D44DA0474}"/>
              </a:ext>
            </a:extLst>
          </p:cNvPr>
          <p:cNvGrpSpPr/>
          <p:nvPr/>
        </p:nvGrpSpPr>
        <p:grpSpPr>
          <a:xfrm>
            <a:off x="8672155" y="1958214"/>
            <a:ext cx="209300" cy="2931160"/>
            <a:chOff x="5545720" y="5823327"/>
            <a:chExt cx="200053" cy="3324214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1F4AB23F-7C12-B6B4-3BC7-771F075CB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5720" y="5823327"/>
              <a:ext cx="200053" cy="2229161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C6FC2148-9497-881A-D256-8DB023981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64773" y="7670960"/>
              <a:ext cx="181000" cy="1476581"/>
            </a:xfrm>
            <a:prstGeom prst="rect">
              <a:avLst/>
            </a:prstGeom>
          </p:spPr>
        </p:pic>
      </p:grp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D762899-692D-5535-5C50-9776C4705B6D}"/>
              </a:ext>
            </a:extLst>
          </p:cNvPr>
          <p:cNvSpPr/>
          <p:nvPr/>
        </p:nvSpPr>
        <p:spPr>
          <a:xfrm>
            <a:off x="435118" y="5330176"/>
            <a:ext cx="691592" cy="64492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발행시작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989FB79-7E11-7B09-A0A3-499DDCF4F652}"/>
              </a:ext>
            </a:extLst>
          </p:cNvPr>
          <p:cNvSpPr/>
          <p:nvPr/>
        </p:nvSpPr>
        <p:spPr>
          <a:xfrm>
            <a:off x="2228116" y="5336787"/>
            <a:ext cx="691592" cy="6449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발행종료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529F9C2-9162-706C-D645-643E72BEFD70}"/>
              </a:ext>
            </a:extLst>
          </p:cNvPr>
          <p:cNvSpPr/>
          <p:nvPr/>
        </p:nvSpPr>
        <p:spPr>
          <a:xfrm>
            <a:off x="3712217" y="5371557"/>
            <a:ext cx="691592" cy="6449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불량처리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DF052C5-C4CB-F3A7-3603-A6BD9FE6ADAF}"/>
              </a:ext>
            </a:extLst>
          </p:cNvPr>
          <p:cNvGrpSpPr/>
          <p:nvPr/>
        </p:nvGrpSpPr>
        <p:grpSpPr>
          <a:xfrm>
            <a:off x="195176" y="4782350"/>
            <a:ext cx="1703725" cy="276999"/>
            <a:chOff x="476670" y="5529064"/>
            <a:chExt cx="3240467" cy="27699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7451FC0-6C46-37AC-7851-104437853245}"/>
                </a:ext>
              </a:extLst>
            </p:cNvPr>
            <p:cNvSpPr txBox="1"/>
            <p:nvPr/>
          </p:nvSpPr>
          <p:spPr>
            <a:xfrm>
              <a:off x="476670" y="5529064"/>
              <a:ext cx="3240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양품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:         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개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7E1F2B1-6311-DED3-2EDB-A4365418DB19}"/>
                </a:ext>
              </a:extLst>
            </p:cNvPr>
            <p:cNvSpPr/>
            <p:nvPr/>
          </p:nvSpPr>
          <p:spPr>
            <a:xfrm>
              <a:off x="1628800" y="5545907"/>
              <a:ext cx="936207" cy="2601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3B93993-ACED-423B-1AF3-215ADEC77B11}"/>
              </a:ext>
            </a:extLst>
          </p:cNvPr>
          <p:cNvGrpSpPr/>
          <p:nvPr/>
        </p:nvGrpSpPr>
        <p:grpSpPr>
          <a:xfrm>
            <a:off x="1570707" y="4771317"/>
            <a:ext cx="1703725" cy="276999"/>
            <a:chOff x="476670" y="5529064"/>
            <a:chExt cx="3240467" cy="2769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8EBE9CC-0063-3EAD-C939-08B39847BF00}"/>
                </a:ext>
              </a:extLst>
            </p:cNvPr>
            <p:cNvSpPr txBox="1"/>
            <p:nvPr/>
          </p:nvSpPr>
          <p:spPr>
            <a:xfrm>
              <a:off x="476670" y="5529064"/>
              <a:ext cx="3240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불량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:          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개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32E3C8A-0CCC-4E50-E143-C596DF080667}"/>
                </a:ext>
              </a:extLst>
            </p:cNvPr>
            <p:cNvSpPr/>
            <p:nvPr/>
          </p:nvSpPr>
          <p:spPr>
            <a:xfrm>
              <a:off x="1628800" y="5545907"/>
              <a:ext cx="1060304" cy="26015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A041BCE-3C79-7E8D-0C21-82C8EC4BE45C}"/>
              </a:ext>
            </a:extLst>
          </p:cNvPr>
          <p:cNvSpPr/>
          <p:nvPr/>
        </p:nvSpPr>
        <p:spPr>
          <a:xfrm>
            <a:off x="5290149" y="5620608"/>
            <a:ext cx="1423780" cy="34917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생산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Lot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D07D0B33-74C6-42D3-4761-C0EC0FADA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310" y="1926743"/>
            <a:ext cx="201467" cy="309875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19E47EE-B2B7-4B41-FD4B-AFBE8FB75C68}"/>
              </a:ext>
            </a:extLst>
          </p:cNvPr>
          <p:cNvSpPr txBox="1"/>
          <p:nvPr/>
        </p:nvSpPr>
        <p:spPr>
          <a:xfrm>
            <a:off x="274386" y="1385072"/>
            <a:ext cx="128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Lot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바코드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70B995-8DD1-7E27-7866-8F16F8915D2C}"/>
              </a:ext>
            </a:extLst>
          </p:cNvPr>
          <p:cNvSpPr/>
          <p:nvPr/>
        </p:nvSpPr>
        <p:spPr>
          <a:xfrm>
            <a:off x="1300718" y="1436719"/>
            <a:ext cx="1133908" cy="2253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A9DD69-0948-C33F-0D80-78FAD9F6B860}"/>
              </a:ext>
            </a:extLst>
          </p:cNvPr>
          <p:cNvSpPr txBox="1"/>
          <p:nvPr/>
        </p:nvSpPr>
        <p:spPr>
          <a:xfrm>
            <a:off x="3018507" y="1431510"/>
            <a:ext cx="864096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Lot</a:t>
            </a:r>
            <a:r>
              <a:rPr lang="ko-KR" altLang="en-US" sz="1200" b="1" dirty="0"/>
              <a:t>조회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3114019-9702-DC4B-1AAD-9E39881D9F29}"/>
              </a:ext>
            </a:extLst>
          </p:cNvPr>
          <p:cNvCxnSpPr>
            <a:cxnSpLocks/>
          </p:cNvCxnSpPr>
          <p:nvPr/>
        </p:nvCxnSpPr>
        <p:spPr>
          <a:xfrm>
            <a:off x="78042" y="1780337"/>
            <a:ext cx="89790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410270E-E67D-D0B9-0F83-5B82A5E88743}"/>
              </a:ext>
            </a:extLst>
          </p:cNvPr>
          <p:cNvSpPr txBox="1"/>
          <p:nvPr/>
        </p:nvSpPr>
        <p:spPr>
          <a:xfrm>
            <a:off x="4196646" y="1420700"/>
            <a:ext cx="1377435" cy="27699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Lot</a:t>
            </a:r>
            <a:r>
              <a:rPr lang="ko-KR" altLang="en-US" sz="1200" b="1" dirty="0"/>
              <a:t> 발행 모드</a:t>
            </a: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F8A49650-E93B-1562-D93E-8D2E37FD9D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0566" y="1020855"/>
            <a:ext cx="1181265" cy="21910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2A9A9134-B985-F93F-B618-1C0AEFC299BB}"/>
              </a:ext>
            </a:extLst>
          </p:cNvPr>
          <p:cNvSpPr txBox="1"/>
          <p:nvPr/>
        </p:nvSpPr>
        <p:spPr>
          <a:xfrm>
            <a:off x="213648" y="4378180"/>
            <a:ext cx="2304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최종 발행 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Ser.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D3719C5-5B7E-C101-AC9B-ACA0DD391012}"/>
              </a:ext>
            </a:extLst>
          </p:cNvPr>
          <p:cNvSpPr/>
          <p:nvPr/>
        </p:nvSpPr>
        <p:spPr>
          <a:xfrm>
            <a:off x="1368924" y="4395023"/>
            <a:ext cx="675456" cy="2296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EFCB73F-FFC2-8408-3CD7-A818F75EF557}"/>
              </a:ext>
            </a:extLst>
          </p:cNvPr>
          <p:cNvSpPr/>
          <p:nvPr/>
        </p:nvSpPr>
        <p:spPr>
          <a:xfrm>
            <a:off x="7782642" y="5377825"/>
            <a:ext cx="691592" cy="6449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결과</a:t>
            </a:r>
            <a:br>
              <a:rPr lang="en-US" altLang="ko-KR" sz="14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</a:br>
            <a:r>
              <a:rPr lang="ko-KR" altLang="en-US" sz="14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저장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1A14F3-4494-3F94-D6B8-B7EAA1A962F9}"/>
              </a:ext>
            </a:extLst>
          </p:cNvPr>
          <p:cNvSpPr txBox="1"/>
          <p:nvPr/>
        </p:nvSpPr>
        <p:spPr>
          <a:xfrm>
            <a:off x="7687664" y="1428836"/>
            <a:ext cx="128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2026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년 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3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월 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3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일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8FC204-FEF8-E917-CF3A-833F59ACD91C}"/>
              </a:ext>
            </a:extLst>
          </p:cNvPr>
          <p:cNvSpPr txBox="1"/>
          <p:nvPr/>
        </p:nvSpPr>
        <p:spPr>
          <a:xfrm>
            <a:off x="226337" y="117695"/>
            <a:ext cx="8575894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만텍 각인시스템 기능요건 정의서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3D8E34-0C7A-20A2-605C-73DF97ECC65D}"/>
              </a:ext>
            </a:extLst>
          </p:cNvPr>
          <p:cNvSpPr txBox="1"/>
          <p:nvPr/>
        </p:nvSpPr>
        <p:spPr>
          <a:xfrm>
            <a:off x="2653509" y="2072425"/>
            <a:ext cx="492147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조회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F035EC7-6FE7-58A7-1E4E-736350D0A2E6}"/>
              </a:ext>
            </a:extLst>
          </p:cNvPr>
          <p:cNvCxnSpPr>
            <a:cxnSpLocks/>
          </p:cNvCxnSpPr>
          <p:nvPr/>
        </p:nvCxnSpPr>
        <p:spPr>
          <a:xfrm>
            <a:off x="91139" y="3758241"/>
            <a:ext cx="30545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91141F8B-5137-6723-E75A-7203598F79D4}"/>
              </a:ext>
            </a:extLst>
          </p:cNvPr>
          <p:cNvCxnSpPr>
            <a:cxnSpLocks/>
          </p:cNvCxnSpPr>
          <p:nvPr/>
        </p:nvCxnSpPr>
        <p:spPr>
          <a:xfrm>
            <a:off x="93399" y="5225874"/>
            <a:ext cx="30545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991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5B47E-856B-D075-C4AF-0215BBB3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4D04D8-1B50-0069-F02E-1B5DAC03982E}"/>
              </a:ext>
            </a:extLst>
          </p:cNvPr>
          <p:cNvSpPr txBox="1"/>
          <p:nvPr/>
        </p:nvSpPr>
        <p:spPr>
          <a:xfrm>
            <a:off x="341769" y="456249"/>
            <a:ext cx="8575894" cy="339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6. </a:t>
            </a:r>
            <a:r>
              <a:rPr lang="ko-KR" altLang="en-US" sz="1200" dirty="0"/>
              <a:t>생산 </a:t>
            </a:r>
            <a:r>
              <a:rPr lang="en-US" altLang="ko-KR" sz="1200" dirty="0"/>
              <a:t>Lot</a:t>
            </a:r>
            <a:r>
              <a:rPr lang="ko-KR" altLang="en-US" sz="1200" dirty="0"/>
              <a:t>조회 화면</a:t>
            </a:r>
            <a:endParaRPr lang="en-US" altLang="ko-KR" sz="12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7E24EEB-5848-3C4E-4D7A-CF0562A01DCD}"/>
              </a:ext>
            </a:extLst>
          </p:cNvPr>
          <p:cNvGrpSpPr/>
          <p:nvPr/>
        </p:nvGrpSpPr>
        <p:grpSpPr>
          <a:xfrm>
            <a:off x="8797144" y="2166879"/>
            <a:ext cx="192947" cy="2377967"/>
            <a:chOff x="5545720" y="5823327"/>
            <a:chExt cx="200053" cy="332421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2A994AB-1A56-D1AE-67DC-DA421D5F6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5720" y="5823327"/>
              <a:ext cx="200053" cy="2229161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95B20C4-15E2-F722-78ED-6D5117A39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64773" y="7670960"/>
              <a:ext cx="181000" cy="1476581"/>
            </a:xfrm>
            <a:prstGeom prst="rect">
              <a:avLst/>
            </a:prstGeom>
          </p:spPr>
        </p:pic>
      </p:grpSp>
      <p:pic>
        <p:nvPicPr>
          <p:cNvPr id="7" name="그림 6" descr="스크린샷, 사각형, 직사각형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DB7EA4-F256-2905-95C7-D6FA0E5B9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027" y="2158328"/>
            <a:ext cx="5122843" cy="1217397"/>
          </a:xfrm>
          <a:prstGeom prst="rect">
            <a:avLst/>
          </a:prstGeom>
        </p:spPr>
      </p:pic>
      <p:pic>
        <p:nvPicPr>
          <p:cNvPr id="8" name="그림 7" descr="스크린샷, 사각형, 직사각형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0714AE-2C87-29CB-E875-5634EE2DFF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026" y="3375725"/>
            <a:ext cx="5122844" cy="1217397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AEDFA5E5-668A-09D4-B3B6-6C6B5A75F0AF}"/>
              </a:ext>
            </a:extLst>
          </p:cNvPr>
          <p:cNvGrpSpPr/>
          <p:nvPr/>
        </p:nvGrpSpPr>
        <p:grpSpPr>
          <a:xfrm>
            <a:off x="309034" y="2206867"/>
            <a:ext cx="2520280" cy="276999"/>
            <a:chOff x="476672" y="5529064"/>
            <a:chExt cx="2520280" cy="27699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9C28E0C-B529-02F3-06AE-29BE21E68A57}"/>
                </a:ext>
              </a:extLst>
            </p:cNvPr>
            <p:cNvSpPr txBox="1"/>
            <p:nvPr/>
          </p:nvSpPr>
          <p:spPr>
            <a:xfrm>
              <a:off x="476672" y="552906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Lot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 바코드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: 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1474C1E-46C9-AAE6-B958-FC18A50C19A5}"/>
                </a:ext>
              </a:extLst>
            </p:cNvPr>
            <p:cNvSpPr/>
            <p:nvPr/>
          </p:nvSpPr>
          <p:spPr>
            <a:xfrm>
              <a:off x="1628800" y="5545907"/>
              <a:ext cx="1368152" cy="2601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01BDF36-33E4-14AD-85E4-D6B9F22BEDB7}"/>
              </a:ext>
            </a:extLst>
          </p:cNvPr>
          <p:cNvGrpSpPr/>
          <p:nvPr/>
        </p:nvGrpSpPr>
        <p:grpSpPr>
          <a:xfrm>
            <a:off x="309034" y="2494899"/>
            <a:ext cx="2520280" cy="276999"/>
            <a:chOff x="476672" y="5529064"/>
            <a:chExt cx="2520280" cy="27699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D885927-F92A-189C-AA94-C6A09236F5F5}"/>
                </a:ext>
              </a:extLst>
            </p:cNvPr>
            <p:cNvSpPr txBox="1"/>
            <p:nvPr/>
          </p:nvSpPr>
          <p:spPr>
            <a:xfrm>
              <a:off x="476672" y="552906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품명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: 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B60EB15-6A09-B4BF-D3C6-1906D11E9305}"/>
                </a:ext>
              </a:extLst>
            </p:cNvPr>
            <p:cNvSpPr/>
            <p:nvPr/>
          </p:nvSpPr>
          <p:spPr>
            <a:xfrm>
              <a:off x="1628800" y="5545907"/>
              <a:ext cx="1368152" cy="2601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EDBEF6C-6EF4-B414-9AFB-C80B711E2BB7}"/>
              </a:ext>
            </a:extLst>
          </p:cNvPr>
          <p:cNvGrpSpPr/>
          <p:nvPr/>
        </p:nvGrpSpPr>
        <p:grpSpPr>
          <a:xfrm>
            <a:off x="309034" y="2782931"/>
            <a:ext cx="2520280" cy="276999"/>
            <a:chOff x="476672" y="5529064"/>
            <a:chExt cx="2520280" cy="27699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9E5BFD-E07F-EA6C-D345-3FF4166DE2F1}"/>
                </a:ext>
              </a:extLst>
            </p:cNvPr>
            <p:cNvSpPr txBox="1"/>
            <p:nvPr/>
          </p:nvSpPr>
          <p:spPr>
            <a:xfrm>
              <a:off x="476672" y="552906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제조일자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: 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9165BCD-65AB-B78A-5D7D-50E5F98BC49E}"/>
                </a:ext>
              </a:extLst>
            </p:cNvPr>
            <p:cNvSpPr/>
            <p:nvPr/>
          </p:nvSpPr>
          <p:spPr>
            <a:xfrm>
              <a:off x="1628800" y="5545907"/>
              <a:ext cx="1368152" cy="2601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FB381FB-03A7-C02A-B580-0886F1D76BBB}"/>
              </a:ext>
            </a:extLst>
          </p:cNvPr>
          <p:cNvGrpSpPr/>
          <p:nvPr/>
        </p:nvGrpSpPr>
        <p:grpSpPr>
          <a:xfrm>
            <a:off x="309034" y="3647027"/>
            <a:ext cx="2520280" cy="276999"/>
            <a:chOff x="476672" y="5529064"/>
            <a:chExt cx="2520280" cy="27699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2BC542E-2FF9-3C2F-9660-A9DE52C9D3B8}"/>
                </a:ext>
              </a:extLst>
            </p:cNvPr>
            <p:cNvSpPr txBox="1"/>
            <p:nvPr/>
          </p:nvSpPr>
          <p:spPr>
            <a:xfrm>
              <a:off x="476672" y="552906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dirty="0">
                  <a:latin typeface="맑은 고딕"/>
                  <a:ea typeface="맑은 고딕" panose="020B0503020000020004" pitchFamily="50" charset="-127"/>
                </a:rPr>
                <a:t>Lot</a:t>
              </a:r>
              <a:r>
                <a:rPr lang="en-US" altLang="ko-KR" sz="1200" dirty="0">
                  <a:solidFill>
                    <a:srgbClr val="C00000"/>
                  </a:solidFill>
                  <a:latin typeface="맑은 고딕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생산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 수량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: 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25F7A23-069E-E2DD-5069-9AB2019C0F2F}"/>
                </a:ext>
              </a:extLst>
            </p:cNvPr>
            <p:cNvSpPr/>
            <p:nvPr/>
          </p:nvSpPr>
          <p:spPr>
            <a:xfrm>
              <a:off x="1628800" y="5545907"/>
              <a:ext cx="1368152" cy="2601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821EFD1-DE62-858D-5350-252E6F967473}"/>
              </a:ext>
            </a:extLst>
          </p:cNvPr>
          <p:cNvGrpSpPr/>
          <p:nvPr/>
        </p:nvGrpSpPr>
        <p:grpSpPr>
          <a:xfrm>
            <a:off x="309034" y="3081996"/>
            <a:ext cx="2520280" cy="276999"/>
            <a:chOff x="476672" y="5529064"/>
            <a:chExt cx="2520280" cy="27699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32AC041-0C6C-E1F1-64A9-007C49CDA4C5}"/>
                </a:ext>
              </a:extLst>
            </p:cNvPr>
            <p:cNvSpPr txBox="1"/>
            <p:nvPr/>
          </p:nvSpPr>
          <p:spPr>
            <a:xfrm>
              <a:off x="476672" y="552906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생산설비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: 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E50E79A7-0508-ECF3-6C29-F9E4024F82A0}"/>
                </a:ext>
              </a:extLst>
            </p:cNvPr>
            <p:cNvSpPr/>
            <p:nvPr/>
          </p:nvSpPr>
          <p:spPr>
            <a:xfrm>
              <a:off x="1628800" y="5545907"/>
              <a:ext cx="1368152" cy="2601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DAD4759-45C3-1E0E-04EE-57BCAC4BDB15}"/>
              </a:ext>
            </a:extLst>
          </p:cNvPr>
          <p:cNvGrpSpPr/>
          <p:nvPr/>
        </p:nvGrpSpPr>
        <p:grpSpPr>
          <a:xfrm>
            <a:off x="309034" y="3370028"/>
            <a:ext cx="2520280" cy="276999"/>
            <a:chOff x="476672" y="5529064"/>
            <a:chExt cx="2520280" cy="27699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F766B16-BC7E-D495-F9F5-156B642E1537}"/>
                </a:ext>
              </a:extLst>
            </p:cNvPr>
            <p:cNvSpPr txBox="1"/>
            <p:nvPr/>
          </p:nvSpPr>
          <p:spPr>
            <a:xfrm>
              <a:off x="476672" y="552906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생산금형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: 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EE5FDFD-402F-2C0F-453D-0CC0697892B6}"/>
                </a:ext>
              </a:extLst>
            </p:cNvPr>
            <p:cNvSpPr/>
            <p:nvPr/>
          </p:nvSpPr>
          <p:spPr>
            <a:xfrm>
              <a:off x="1628800" y="5545907"/>
              <a:ext cx="1368152" cy="2601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D9E9E7E-1497-AB91-1ABE-8C3823AAA42F}"/>
              </a:ext>
            </a:extLst>
          </p:cNvPr>
          <p:cNvGrpSpPr/>
          <p:nvPr/>
        </p:nvGrpSpPr>
        <p:grpSpPr>
          <a:xfrm>
            <a:off x="403401" y="4202931"/>
            <a:ext cx="1703725" cy="276999"/>
            <a:chOff x="476670" y="5529064"/>
            <a:chExt cx="3240467" cy="27699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3072479-6A78-D4D3-5E6E-2D3F3646457E}"/>
                </a:ext>
              </a:extLst>
            </p:cNvPr>
            <p:cNvSpPr txBox="1"/>
            <p:nvPr/>
          </p:nvSpPr>
          <p:spPr>
            <a:xfrm>
              <a:off x="476670" y="5529064"/>
              <a:ext cx="3240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양품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:         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개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D087E358-87F5-89C2-B0FF-A19A66CCE93D}"/>
                </a:ext>
              </a:extLst>
            </p:cNvPr>
            <p:cNvSpPr/>
            <p:nvPr/>
          </p:nvSpPr>
          <p:spPr>
            <a:xfrm>
              <a:off x="1628800" y="5545907"/>
              <a:ext cx="936207" cy="2601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2A6BBD4-49E3-C484-576B-4BC8EEEB9531}"/>
              </a:ext>
            </a:extLst>
          </p:cNvPr>
          <p:cNvGrpSpPr/>
          <p:nvPr/>
        </p:nvGrpSpPr>
        <p:grpSpPr>
          <a:xfrm>
            <a:off x="1778932" y="4191898"/>
            <a:ext cx="1703725" cy="276999"/>
            <a:chOff x="476670" y="5529064"/>
            <a:chExt cx="3240467" cy="276999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A9E4220-AABD-C275-7329-7C750D835D5D}"/>
                </a:ext>
              </a:extLst>
            </p:cNvPr>
            <p:cNvSpPr txBox="1"/>
            <p:nvPr/>
          </p:nvSpPr>
          <p:spPr>
            <a:xfrm>
              <a:off x="476670" y="5529064"/>
              <a:ext cx="3240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불량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:          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개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CAE4436-8A1F-5AD6-89DA-8B4BA2B989E3}"/>
                </a:ext>
              </a:extLst>
            </p:cNvPr>
            <p:cNvSpPr/>
            <p:nvPr/>
          </p:nvSpPr>
          <p:spPr>
            <a:xfrm>
              <a:off x="1628800" y="5545907"/>
              <a:ext cx="1060304" cy="26015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FAFCBB6-D0F9-3716-1003-07E663F70C8B}"/>
              </a:ext>
            </a:extLst>
          </p:cNvPr>
          <p:cNvSpPr/>
          <p:nvPr/>
        </p:nvSpPr>
        <p:spPr>
          <a:xfrm>
            <a:off x="7997350" y="4850116"/>
            <a:ext cx="691592" cy="64492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종료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57C845-A8E6-C006-7A06-5B994D382BA0}"/>
              </a:ext>
            </a:extLst>
          </p:cNvPr>
          <p:cNvSpPr txBox="1"/>
          <p:nvPr/>
        </p:nvSpPr>
        <p:spPr>
          <a:xfrm>
            <a:off x="344184" y="1083492"/>
            <a:ext cx="2520280" cy="276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생산 </a:t>
            </a:r>
            <a:r>
              <a:rPr lang="en-US" altLang="ko-KR" sz="12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Lot </a:t>
            </a:r>
            <a:r>
              <a:rPr lang="ko-KR" altLang="en-US" sz="12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조회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8985EB-AA99-A3E3-A66E-F47FC01B3F0A}"/>
              </a:ext>
            </a:extLst>
          </p:cNvPr>
          <p:cNvSpPr txBox="1"/>
          <p:nvPr/>
        </p:nvSpPr>
        <p:spPr>
          <a:xfrm>
            <a:off x="346092" y="1464537"/>
            <a:ext cx="128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Lot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바코드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3EFD48D-417C-4354-786F-0F2965731471}"/>
              </a:ext>
            </a:extLst>
          </p:cNvPr>
          <p:cNvSpPr/>
          <p:nvPr/>
        </p:nvSpPr>
        <p:spPr>
          <a:xfrm>
            <a:off x="1372424" y="1516184"/>
            <a:ext cx="1133908" cy="2253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7B9818-E73A-CBF5-93F3-92B9D17D42DC}"/>
              </a:ext>
            </a:extLst>
          </p:cNvPr>
          <p:cNvSpPr txBox="1"/>
          <p:nvPr/>
        </p:nvSpPr>
        <p:spPr>
          <a:xfrm>
            <a:off x="2662780" y="1465081"/>
            <a:ext cx="864096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Lot</a:t>
            </a:r>
            <a:r>
              <a:rPr lang="ko-KR" altLang="en-US" sz="1200" b="1" dirty="0"/>
              <a:t>조회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7585A96-5006-50D7-82AB-D9DDF6E9CA52}"/>
              </a:ext>
            </a:extLst>
          </p:cNvPr>
          <p:cNvSpPr/>
          <p:nvPr/>
        </p:nvSpPr>
        <p:spPr>
          <a:xfrm>
            <a:off x="78042" y="896300"/>
            <a:ext cx="8979054" cy="4689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CC425DB-29AC-6A23-C7F6-45FA0A28A8B5}"/>
              </a:ext>
            </a:extLst>
          </p:cNvPr>
          <p:cNvCxnSpPr>
            <a:cxnSpLocks/>
          </p:cNvCxnSpPr>
          <p:nvPr/>
        </p:nvCxnSpPr>
        <p:spPr>
          <a:xfrm>
            <a:off x="78042" y="1780337"/>
            <a:ext cx="89790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그림 45">
            <a:extLst>
              <a:ext uri="{FF2B5EF4-FFF2-40B4-BE49-F238E27FC236}">
                <a16:creationId xmlns:a16="http://schemas.microsoft.com/office/drawing/2014/main" id="{142E0F22-981B-E55F-E663-9A13F8634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0566" y="1020855"/>
            <a:ext cx="1181265" cy="219106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54DFB4D-A387-586E-56EF-DD84A8004DC5}"/>
              </a:ext>
            </a:extLst>
          </p:cNvPr>
          <p:cNvSpPr txBox="1"/>
          <p:nvPr/>
        </p:nvSpPr>
        <p:spPr>
          <a:xfrm>
            <a:off x="7687664" y="1428836"/>
            <a:ext cx="128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2026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년 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3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월 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3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일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68E4C6-4AF3-9658-DB81-B4A4E0A35759}"/>
              </a:ext>
            </a:extLst>
          </p:cNvPr>
          <p:cNvSpPr txBox="1"/>
          <p:nvPr/>
        </p:nvSpPr>
        <p:spPr>
          <a:xfrm>
            <a:off x="226337" y="117695"/>
            <a:ext cx="8575894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만텍 각인시스템 기능요건 정의서</a:t>
            </a:r>
          </a:p>
        </p:txBody>
      </p:sp>
    </p:spTree>
    <p:extLst>
      <p:ext uri="{BB962C8B-B14F-4D97-AF65-F5344CB8AC3E}">
        <p14:creationId xmlns:p14="http://schemas.microsoft.com/office/powerpoint/2010/main" val="3045026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189AB-B492-6C03-1DBB-29F040B1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CF28E2-5881-D279-BF1B-1B417953D502}"/>
              </a:ext>
            </a:extLst>
          </p:cNvPr>
          <p:cNvSpPr txBox="1"/>
          <p:nvPr/>
        </p:nvSpPr>
        <p:spPr>
          <a:xfrm>
            <a:off x="1354746" y="982176"/>
            <a:ext cx="6733780" cy="4893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## </a:t>
            </a:r>
            <a:r>
              <a:rPr lang="en-US" altLang="ko-KR" sz="12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wizmes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: </a:t>
            </a:r>
            <a:r>
              <a:rPr lang="ko-KR" altLang="en-US" sz="12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제원테크에서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이와 비슷한 처리를 한적이 있음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코드확인필요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1)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생산입고시</a:t>
            </a: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</a:t>
            </a:r>
            <a:r>
              <a:rPr lang="ko-KR" altLang="en-US" sz="12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물류바코드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생성 후 바코드별 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개의 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Lot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번호를 저장하는 테이블 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‘A’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준비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시리얼단위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2) Lot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발행 버튼 </a:t>
            </a:r>
            <a:r>
              <a:rPr lang="ko-KR" altLang="en-US" sz="12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클릭시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</a:t>
            </a:r>
            <a:r>
              <a:rPr lang="ko-KR" altLang="en-US" sz="12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물류바코드에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해당하는 품명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제조일자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발행일자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),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수량 표시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Lot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번호는 조합하여 표시</a:t>
            </a: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최종발행 시리얼번호 표시 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 ‘A’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 테이블 참조</a:t>
            </a: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3)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결과저장</a:t>
            </a: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각인시스템 그리드의 합격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불합격 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lot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시리얼 정보가 </a:t>
            </a:r>
            <a:r>
              <a:rPr lang="en-US" altLang="ko-KR" sz="12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wizmes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로 전달된다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‘A’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테이블에 데이터를 등록 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/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업데이트 한다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4)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생산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Lot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조회 </a:t>
            </a: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생산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Lot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에 해당하는 모든 양품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/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불량 수량 표시 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 ‘A’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테이블 참조</a:t>
            </a: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-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사출조건은 </a:t>
            </a:r>
            <a:r>
              <a:rPr lang="ko-KR" altLang="en-US" sz="12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물류바코드의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 생성일시로 조회</a:t>
            </a: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#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특이사항</a:t>
            </a: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-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반제품이 로딩되야 각인기로 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lot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번호 전달이 가능</a:t>
            </a: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-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각인공정에 로딩된 반제품 들은 실제 각인이 되었든 아니든 모두 회수 됨</a:t>
            </a: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이로써 각인시스템 그리드에 비정상으로 표시되는 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row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들도 모두 불량처리 하면 됨</a:t>
            </a: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미사용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미각인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된 </a:t>
            </a:r>
            <a:r>
              <a:rPr lang="ko-KR" altLang="en-US" sz="12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채번이지만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 이미 로딩된 반제품이므로 모두 회수됨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불량처리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-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각인시스템은 </a:t>
            </a:r>
            <a:r>
              <a:rPr lang="ko-KR" altLang="en-US" sz="12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바코드스캐너로부터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 들어오는 정보를 그리드내의 번호들과 비교하여 일치하면 양품처리</a:t>
            </a:r>
            <a:r>
              <a:rPr lang="en-US" altLang="ko-KR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그외는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anose="05000000000000000000" pitchFamily="2" charset="2"/>
              </a:rPr>
              <a:t> 모두 불량처리 됨</a:t>
            </a:r>
            <a:endParaRPr lang="en-US" altLang="ko-KR" sz="120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330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318</TotalTime>
  <Words>676</Words>
  <Application>Microsoft Office PowerPoint</Application>
  <PresentationFormat>화면 슬라이드 쇼(4:3)</PresentationFormat>
  <Paragraphs>97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livekey3375</dc:creator>
  <cp:lastModifiedBy>livekey3375</cp:lastModifiedBy>
  <cp:revision>22</cp:revision>
  <dcterms:created xsi:type="dcterms:W3CDTF">2023-11-30T23:30:51Z</dcterms:created>
  <dcterms:modified xsi:type="dcterms:W3CDTF">2026-03-09T08:27:17Z</dcterms:modified>
</cp:coreProperties>
</file>